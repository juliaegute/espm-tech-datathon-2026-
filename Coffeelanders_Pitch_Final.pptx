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13A9A6D2-5A93-0CF8-A41D-B4E26242883B}">
          <p14:sldIdLst>
            <p14:sldId id="256"/>
            <p14:sldId id="266"/>
            <p14:sldId id="257"/>
            <p14:sldId id="258"/>
            <p14:sldId id="259"/>
            <p14:sldId id="260"/>
            <p14:sldId id="265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Itens</c:v>
                </c:pt>
              </c:strCache>
            </c:strRef>
          </c:tx>
          <c:spPr>
            <a:solidFill>
              <a:srgbClr val="FFC4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200003 - Cesta básica</c:v>
                </c:pt>
                <c:pt idx="1">
                  <c:v>000001 - Regime padrão</c:v>
                </c:pt>
                <c:pt idx="2">
                  <c:v>200014 - Hortifruti e frutas</c:v>
                </c:pt>
                <c:pt idx="3">
                  <c:v>200034 - Alimentos (−60%)</c:v>
                </c:pt>
                <c:pt idx="4">
                  <c:v>200030 - Disp. médico (−60%)</c:v>
                </c:pt>
                <c:pt idx="5">
                  <c:v>410004 - Exportação</c:v>
                </c:pt>
                <c:pt idx="6">
                  <c:v>200005 - Disp. médico, órgão público</c:v>
                </c:pt>
                <c:pt idx="7">
                  <c:v>410001 - Bonificação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4990</c:v>
                </c:pt>
                <c:pt idx="1">
                  <c:v>3816</c:v>
                </c:pt>
                <c:pt idx="2">
                  <c:v>2501</c:v>
                </c:pt>
                <c:pt idx="3">
                  <c:v>1537</c:v>
                </c:pt>
                <c:pt idx="4">
                  <c:v>1228</c:v>
                </c:pt>
                <c:pt idx="5">
                  <c:v>447</c:v>
                </c:pt>
                <c:pt idx="6">
                  <c:v>443</c:v>
                </c:pt>
                <c:pt idx="7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C8-4E3B-92EB-56C03D2B81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8BE"/>
                </a:solidFill>
                <a:latin typeface="+mn-lt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B8B8BE"/>
                </a:solidFill>
                <a:latin typeface="+mn-lt"/>
              </a:defRPr>
            </a:pPr>
            <a:r>
              <a:rPr lang="pt-BR" sz="1200" b="0" i="0" u="none" strike="noStrike">
                <a:solidFill>
                  <a:srgbClr val="B8B8BE"/>
                </a:solidFill>
                <a:latin typeface="+mn-lt"/>
              </a:rPr>
              <a:t>Imposto sobre vendas por classe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Hoje</c:v>
                </c:pt>
              </c:strCache>
            </c:strRef>
          </c:tx>
          <c:spPr>
            <a:solidFill>
              <a:srgbClr val="8A8A92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200003 Cesta básica</c:v>
                </c:pt>
                <c:pt idx="1">
                  <c:v>000001 Regime padrão</c:v>
                </c:pt>
                <c:pt idx="2">
                  <c:v>200034 Alimentos −60%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199.6</c:v>
                </c:pt>
                <c:pt idx="1">
                  <c:v>260.3</c:v>
                </c:pt>
                <c:pt idx="2">
                  <c:v>64.400000000000006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3D-4DA4-BD5B-1D1A2DF060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2033</c:v>
                </c:pt>
              </c:strCache>
            </c:strRef>
          </c:tx>
          <c:spPr>
            <a:solidFill>
              <a:srgbClr val="FFC400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200003 Cesta básica</c:v>
                </c:pt>
                <c:pt idx="1">
                  <c:v>000001 Regime padrão</c:v>
                </c:pt>
                <c:pt idx="2">
                  <c:v>200034 Alimentos −60%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315.39999999999998</c:v>
                </c:pt>
                <c:pt idx="2">
                  <c:v>38.799999999999997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3D-4DA4-BD5B-1D1A2DF060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8BE"/>
                </a:solidFill>
                <a:latin typeface="+mn-lt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8B8BE"/>
              </a:solidFill>
              <a:latin typeface="+mn-lt"/>
              <a:cs typeface="+mn-lt"/>
            </a:defRPr>
          </a:pPr>
          <a:endParaRPr lang="pt-B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91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[0:00–0:10 · 10s]</a:t>
            </a:r>
          </a:p>
          <a:p>
            <a:r>
              <a:t>Somos a Coffeelanders. Em cinco minutos vamos responder se a Meridional ganha ou perde com a reforma, onde, e de onde vem cada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[0:10–0:40 · 30s]</a:t>
            </a:r>
          </a:p>
          <a:p>
            <a:r>
              <a:t>Esta é a Atacadista Meridional: um atacado de alimentos em São Paulo, no lucro real. Ela compra de 19 fornecedores, de grãos a plástico, e vende para supermercados, hospitais públicos, uma clínica e um importador no Chile.</a:t>
            </a:r>
          </a:p>
          <a:p>
            <a:r>
              <a:t>A reforma troca cinco tributos por três, CBS, IBS e Imposto Seletivo, numa transição de 2026 a 2033.</a:t>
            </a:r>
          </a:p>
          <a:p>
            <a:r>
              <a:t>A pergunta do desafio é simples: no regime novo, ela paga mais ou menos imposto? E para responder, cada item das notas precisa ser reclassificado.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[0:40–1:00 · 20s]</a:t>
            </a:r>
          </a:p>
          <a:p>
            <a:r>
              <a:t>E reclassificar não é trivial. São 15 mil itens em 1.387 notas em PDF, nenhum com o código novo, o cClassTrib. O código depende de três coisas: o produto, quem compra e a operação. E 643 itens são plástico com descrição tipo "DIVERSOS": ali, só o CNAE do fornecedor dá pista.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[1:00–1:35 · 35s]</a:t>
            </a:r>
          </a:p>
          <a:p>
            <a:r>
              <a:t>Nossa lógica foi: regra primeiro, julgamento só onde a regra não alcança. Lemos as notas e separamos compra e venda. Primeiro a operação: exportação, bonificação e venda a órgão público decidem sozinhas pelo CFOP e pelo cadastro. Depois o mapa oficial de NCM, com condição e exceção. O que sobra vai para julgamento, com o CNAE do emitente e revisão humana. Só então simulamos hoje, 2027 e 2033. Cada linha carrega sua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[1:35–2:00 · 25s]</a:t>
            </a:r>
          </a:p>
          <a:p>
            <a:r>
              <a:t>Os 15 mil itens ficaram em 8 classes: metade é cesta básica e hortifruti, um quarto é regime padrão. As regras de operação pegaram 447 exportações e 38 bonificações, e sinalizamos 497 itens de bebida açucarada com Imposto Seletivo. Os arquivos passaram no validador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[2:00–2:20 · 20s]</a:t>
            </a:r>
          </a:p>
          <a:p>
            <a:r>
              <a:t>Onde a regra não bastou, a decisão foi humana e ficou registrada: 677 itens de quatro produtos entraram como REVISAR e foram decididos com justificativa na fonte. A bisnaguinha, por exemplo, saiu da cesta básica.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[2:20–2:45 · 25s]</a:t>
            </a:r>
          </a:p>
          <a:p>
            <a:r>
              <a:t>A confiança mede a força da evidência: 0,98 quando uma regra objetiva decide, 0,90 pela linha do mapa, 0,85 com evidência indireta e 0,75 na decisão humana. Um alerta que a gente mesmo levanta: 78% do crédito de 2033 está nos itens de 0,85, que são só 4% da base.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[2:45–3:20 · 35s · MOMENTO DA DEMO]</a:t>
            </a:r>
          </a:p>
          <a:p>
            <a:r>
              <a:t>(Se tiver painel: abrir este item ao vivo e clicar até a nota.)</a:t>
            </a:r>
          </a:p>
          <a:p>
            <a:r>
              <a:t>Um caso real, para mostrar a rastreabilidade. Bisnaguinha, NCM 1905.90.90, nota terminada em 2570, item 3. É o mesmo NCM do pão francês, mas o anexo só cobre o pão francês: linha 1913 do mapa. Então vai para o regime padrão. O imposto desse item sai de R$ 317 hoje para R$ 1.202 em 2033. Se tivéssemos marcado cesta básica, seria zero. Um código errado muda o imposto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[3:20–4:10 · 50s · SLIDE PRINCIPAL, falar devagar]</a:t>
            </a:r>
          </a:p>
          <a:p>
            <a:r>
              <a:t>Agora, a resposta: a Meridional ganha ou perde? Ganha.</a:t>
            </a:r>
          </a:p>
          <a:p>
            <a:r>
              <a:t>Nas vendas, paga 32% menos em 2033: de R$ 524 mil para R$ 354 mil.</a:t>
            </a:r>
          </a:p>
          <a:p>
            <a:r>
              <a:t>Onde perde: no regime padrão, mais 21%. Onde ganha: a cesta básica zera e os alimentos do Anexo VII caem 40%.</a:t>
            </a:r>
          </a:p>
          <a:p>
            <a:r>
              <a:t>E o maior ganho está nas compras. Com o crédito amplo, tudo que a empresa compra, inclusive uso e consumo, gera crédito: R$ 68 milhões em 2033.</a:t>
            </a:r>
          </a:p>
          <a:p>
            <a:r>
              <a:t>O líquido fica negativo em R$ 67,6 milhões: a empresa passa a ter mais crédito do que imposto a pagar. Esse saldo vira caixa quando é compensado ou ressarcido.</a:t>
            </a:r>
          </a:p>
          <a:p>
            <a:r>
              <a:t>(Quando preencher 2027: "Em 2027, na transição, o líquido já é de R$ X.")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[4:10–4:40 · 30s]</a:t>
            </a:r>
          </a:p>
          <a:p>
            <a:r>
              <a:t>Sendo honestos sobre os limites: 96% desse crédito vem de 960 itens de dois fornecedores de plástico. Se essa leitura estiver errada, o resultado muda. As alíquotas são premissas do case, e 677 itens dependem de decisão humana. Próximos passos: revisar primeiro os itens de maior valor, medir a acurácia contra o gabarito e ler o XML da nota em vez do PDF.</a:t>
            </a:r>
          </a:p>
          <a:p>
            <a:r>
              <a:t>(Se tiverem o placar do checkpoint do Dia 1, citar aqui a acurácia em vez de dizer que não foi medida.)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[4:40–4:55 · 15s]</a:t>
            </a:r>
          </a:p>
          <a:p>
            <a:r>
              <a:t>Resumindo: cada item de nota fiscal com um código, uma fonte e uma explicação. São 15 mil itens, rastreáveis até a nota, a regra e o cenário. Obrigado, somos a Coffeelanders.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2"/>
                </a:solidFill>
              </a:rPr>
              <a:t>Coffeelanders · Hackathon ESPM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chemeClr val="accent1"/>
                </a:solidFill>
              </a:rPr>
              <a:t>COFFEELANDERS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Classificação fiscal </a:t>
            </a:r>
            <a:r>
              <a:rPr lang="en-US" sz="4000" b="1" dirty="0" err="1">
                <a:solidFill>
                  <a:schemeClr val="bg1"/>
                </a:solidFill>
              </a:rPr>
              <a:t>mais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organizada</a:t>
            </a:r>
            <a:r>
              <a:rPr lang="en-US" sz="4000" b="1" dirty="0">
                <a:solidFill>
                  <a:schemeClr val="bg1"/>
                </a:solidFill>
              </a:rPr>
              <a:t> e </a:t>
            </a:r>
            <a:r>
              <a:rPr lang="en-US" sz="4000" b="1" dirty="0" err="1">
                <a:solidFill>
                  <a:schemeClr val="bg1"/>
                </a:solidFill>
              </a:rPr>
              <a:t>rastreável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Meridional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347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Atacadista Meridional · Hackathon ESPM 2026 · Reforma Tributária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Ana Luiza Proença · Gustavo Gomes · Julia Egute · Pedro Perroni · Ricardo Matteo</a:t>
            </a:r>
            <a:endParaRPr lang="en-US" sz="1100" dirty="0"/>
          </a:p>
        </p:txBody>
      </p:sp>
      <p:sp>
        <p:nvSpPr>
          <p:cNvPr id="7" name="Chip item"/>
          <p:cNvSpPr/>
          <p:nvPr/>
        </p:nvSpPr>
        <p:spPr>
          <a:xfrm>
            <a:off x="6217920" y="109728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070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ARROZ BRANCO T1 PCT 5KG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item da nota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Chip NCM"/>
          <p:cNvSpPr/>
          <p:nvPr/>
        </p:nvSpPr>
        <p:spPr>
          <a:xfrm>
            <a:off x="6217920" y="219456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042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NCM 1006.30.21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linha do mapa oficial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999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Chip classe"/>
          <p:cNvSpPr/>
          <p:nvPr/>
        </p:nvSpPr>
        <p:spPr>
          <a:xfrm>
            <a:off x="6217920" y="3291840"/>
            <a:ext cx="246888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34015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200003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cesta básica · alíquota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</a:rPr>
              <a:t>Um atacadista de alimentos diante da reforma: vai pagar mais ou menos imposto?</a:t>
            </a:r>
          </a:p>
        </p:txBody>
      </p:sp>
      <p:sp>
        <p:nvSpPr>
          <p:cNvPr id="11" name="Card empresa"/>
          <p:cNvSpPr/>
          <p:nvPr/>
        </p:nvSpPr>
        <p:spPr>
          <a:xfrm>
            <a:off x="457200" y="1417320"/>
            <a:ext cx="4023360" cy="28346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2" name="Texto 12"/>
          <p:cNvSpPr txBox="1"/>
          <p:nvPr/>
        </p:nvSpPr>
        <p:spPr>
          <a:xfrm>
            <a:off x="64008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 spc="200" dirty="0">
                <a:solidFill>
                  <a:schemeClr val="accent1"/>
                </a:solidFill>
              </a:rPr>
              <a:t>A EMPRESA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000" b="1" dirty="0">
                <a:solidFill>
                  <a:schemeClr val="bg1"/>
                </a:solidFill>
              </a:rPr>
              <a:t>Atacadista Meridional</a:t>
            </a:r>
          </a:p>
          <a:p>
            <a:pPr marL="0" indent="0">
              <a:buNone/>
            </a:pPr>
            <a:r>
              <a:rPr lang="pt-BR" sz="1200" dirty="0">
                <a:solidFill>
                  <a:schemeClr val="bg2"/>
                </a:solidFill>
              </a:rPr>
              <a:t>Atacado de alimentos · Lucro real · São Paulo/SP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640080" y="2514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pt-BR" sz="1200" b="1" dirty="0">
                <a:solidFill>
                  <a:schemeClr val="bg1"/>
                </a:solidFill>
              </a:rPr>
              <a:t>Compra de 19 fornecedores: </a:t>
            </a:r>
            <a:r>
              <a:rPr lang="pt-BR" sz="1200" dirty="0">
                <a:solidFill>
                  <a:schemeClr val="bg2"/>
                </a:solidFill>
              </a:rPr>
              <a:t>grãos, laticínios, panificação, hortifruti, bebidas, higiene, hospitalar e plásticos.</a:t>
            </a:r>
          </a:p>
          <a:p>
            <a:pPr marL="0" indent="0">
              <a:buNone/>
            </a:pPr>
            <a:r>
              <a:rPr lang="pt-BR" sz="1200" b="1" dirty="0">
                <a:solidFill>
                  <a:schemeClr val="bg1"/>
                </a:solidFill>
              </a:rPr>
              <a:t>Vende para </a:t>
            </a:r>
            <a:r>
              <a:rPr lang="pt-BR" sz="1200" dirty="0">
                <a:solidFill>
                  <a:schemeClr val="bg2"/>
                </a:solidFill>
              </a:rPr>
              <a:t>supermercados, hospitais públicos, uma clínica privada e um importador no Chile.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300" b="1" dirty="0">
                <a:solidFill>
                  <a:schemeClr val="accent1"/>
                </a:solidFill>
              </a:rPr>
              <a:t>95 produtos · 1.387 notas · 15.000 itens</a:t>
            </a:r>
          </a:p>
        </p:txBody>
      </p:sp>
      <p:sp>
        <p:nvSpPr>
          <p:cNvPr id="16" name="Card reforma"/>
          <p:cNvSpPr/>
          <p:nvPr/>
        </p:nvSpPr>
        <p:spPr>
          <a:xfrm>
            <a:off x="4663440" y="1417320"/>
            <a:ext cx="4023360" cy="17373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7" name="Texto 17"/>
          <p:cNvSpPr txBox="1"/>
          <p:nvPr/>
        </p:nvSpPr>
        <p:spPr>
          <a:xfrm>
            <a:off x="484632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100" b="1" spc="200" dirty="0">
                <a:solidFill>
                  <a:schemeClr val="accent1"/>
                </a:solidFill>
              </a:rPr>
              <a:t>A REFORMA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484632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000" b="1" dirty="0">
                <a:solidFill>
                  <a:schemeClr val="bg1"/>
                </a:solidFill>
              </a:rPr>
              <a:t>5 tributos viram 3</a:t>
            </a:r>
          </a:p>
          <a:p>
            <a:pPr marL="0" indent="0">
              <a:buNone/>
            </a:pPr>
            <a:r>
              <a:rPr lang="pt-BR" sz="1200" dirty="0">
                <a:solidFill>
                  <a:schemeClr val="bg2"/>
                </a:solidFill>
              </a:rPr>
              <a:t>PIS, Cofins, IPI, ICMS e ISS → CBS, IBS e Imposto Seletivo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48463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dirty="0">
                <a:solidFill>
                  <a:schemeClr val="accent1"/>
                </a:solidFill>
              </a:rPr>
              <a:t>2026</a:t>
            </a:r>
          </a:p>
          <a:p>
            <a:pPr marL="0" indent="0">
              <a:buNone/>
            </a:pPr>
            <a:r>
              <a:rPr lang="pt-BR" sz="1000" dirty="0">
                <a:solidFill>
                  <a:schemeClr val="bg2"/>
                </a:solidFill>
              </a:rPr>
              <a:t>teste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57607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dirty="0">
                <a:solidFill>
                  <a:schemeClr val="accent1"/>
                </a:solidFill>
              </a:rPr>
              <a:t>2027</a:t>
            </a:r>
          </a:p>
          <a:p>
            <a:pPr marL="0" indent="0">
              <a:buNone/>
            </a:pPr>
            <a:r>
              <a:rPr lang="pt-BR" sz="1000" dirty="0">
                <a:solidFill>
                  <a:schemeClr val="bg2"/>
                </a:solidFill>
              </a:rPr>
              <a:t>CBS plena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66751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dirty="0">
                <a:solidFill>
                  <a:schemeClr val="accent1"/>
                </a:solidFill>
              </a:rPr>
              <a:t>2029–32</a:t>
            </a:r>
          </a:p>
          <a:p>
            <a:pPr marL="0" indent="0">
              <a:buNone/>
            </a:pPr>
            <a:r>
              <a:rPr lang="pt-BR" sz="1000" dirty="0">
                <a:solidFill>
                  <a:schemeClr val="bg2"/>
                </a:solidFill>
              </a:rPr>
              <a:t>ICMS cai</a:t>
            </a:r>
          </a:p>
        </p:txBody>
      </p:sp>
      <p:sp>
        <p:nvSpPr>
          <p:cNvPr id="22" name="Texto 22"/>
          <p:cNvSpPr txBox="1"/>
          <p:nvPr/>
        </p:nvSpPr>
        <p:spPr>
          <a:xfrm>
            <a:off x="75895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dirty="0">
                <a:solidFill>
                  <a:schemeClr val="accent1"/>
                </a:solidFill>
              </a:rPr>
              <a:t>2033</a:t>
            </a:r>
          </a:p>
          <a:p>
            <a:pPr marL="0" indent="0">
              <a:buNone/>
            </a:pPr>
            <a:r>
              <a:rPr lang="pt-BR" sz="1000" dirty="0">
                <a:solidFill>
                  <a:schemeClr val="bg2"/>
                </a:solidFill>
              </a:rPr>
              <a:t>regime novo</a:t>
            </a:r>
          </a:p>
        </p:txBody>
      </p:sp>
      <p:sp>
        <p:nvSpPr>
          <p:cNvPr id="23" name="Card pergunta"/>
          <p:cNvSpPr/>
          <p:nvPr/>
        </p:nvSpPr>
        <p:spPr>
          <a:xfrm>
            <a:off x="4663440" y="3337560"/>
            <a:ext cx="4023360" cy="9144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</p:sp>
      <p:sp>
        <p:nvSpPr>
          <p:cNvPr id="24" name="Texto 24"/>
          <p:cNvSpPr txBox="1"/>
          <p:nvPr/>
        </p:nvSpPr>
        <p:spPr>
          <a:xfrm>
            <a:off x="484632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chemeClr val="tx1"/>
                </a:solidFill>
              </a:rPr>
              <a:t>A pergunta do desafio: </a:t>
            </a:r>
            <a:r>
              <a:rPr lang="pt-BR" sz="1300" dirty="0">
                <a:solidFill>
                  <a:schemeClr val="tx1"/>
                </a:solidFill>
              </a:rPr>
              <a:t>no regime novo, a Meridional paga mais ou menos imposto? Para responder, cada item das notas precisa ser reclassificado.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chemeClr val="accent5"/>
                </a:solidFill>
              </a:rPr>
              <a:t>Fontes: enunciado do desafio; cadastro_empresas.csv; EC 132/2023 e LC 214/2025.</a:t>
            </a:r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Cada item de nota fiscal precisa de um código novo, e o produto não basta</a:t>
            </a:r>
            <a:endParaRPr lang="en-US" sz="2800" dirty="0"/>
          </a:p>
        </p:txBody>
      </p:sp>
      <p:sp>
        <p:nvSpPr>
          <p:cNvPr id="3" name="Card problema 1"/>
          <p:cNvSpPr/>
          <p:nvPr/>
        </p:nvSpPr>
        <p:spPr>
          <a:xfrm>
            <a:off x="457200" y="146304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15.000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itens em 1.387 DANFEs em PDF. Nenhum traz o código do regime novo.</a:t>
            </a:r>
            <a:endParaRPr lang="en-US" sz="1400" dirty="0"/>
          </a:p>
        </p:txBody>
      </p:sp>
      <p:sp>
        <p:nvSpPr>
          <p:cNvPr id="6" name="Card problema 2"/>
          <p:cNvSpPr/>
          <p:nvPr/>
        </p:nvSpPr>
        <p:spPr>
          <a:xfrm>
            <a:off x="3291840" y="146304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fatores decidem o código: o produto (NCM), quem compra e a operação (CFOP).</a:t>
            </a:r>
            <a:endParaRPr lang="en-US" sz="1400" dirty="0"/>
          </a:p>
        </p:txBody>
      </p:sp>
      <p:sp>
        <p:nvSpPr>
          <p:cNvPr id="9" name="Card problema 3"/>
          <p:cNvSpPr/>
          <p:nvPr/>
        </p:nvSpPr>
        <p:spPr>
          <a:xfrm>
            <a:off x="6126480" y="146304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643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itens com descrição genérica de plástico (DIVERSOS, MATERIAL CONF PED…). Só o CNAE do emitente ajuda.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Fontes: enunciado do desafio (seções 1 e 4); base_completa_meridional.csv.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Do item da nota ao imposto: regras primeiro, julgamento onde a regra não alcança</a:t>
            </a:r>
            <a:endParaRPr lang="en-US" sz="2800" dirty="0"/>
          </a:p>
        </p:txBody>
      </p:sp>
      <p:sp>
        <p:nvSpPr>
          <p:cNvPr id="3" name="Etapa 1"/>
          <p:cNvSpPr/>
          <p:nvPr/>
        </p:nvSpPr>
        <p:spPr>
          <a:xfrm>
            <a:off x="457200" y="1508760"/>
            <a:ext cx="1481328" cy="2148840"/>
          </a:xfrm>
          <a:prstGeom prst="roundRect">
            <a:avLst>
              <a:gd name="adj" fmla="val 493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1.387 notas em PDF, itens lidos um a um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ENTRADA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2286000"/>
            <a:ext cx="205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Etapa 2"/>
          <p:cNvSpPr/>
          <p:nvPr/>
        </p:nvSpPr>
        <p:spPr>
          <a:xfrm>
            <a:off x="2144268" y="1508760"/>
            <a:ext cx="1481328" cy="2148840"/>
          </a:xfrm>
          <a:prstGeom prst="roundRect">
            <a:avLst>
              <a:gd name="adj" fmla="val 4938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81428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1428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Operação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81428" y="2286000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CFOP: bonificação, exportação, órgão público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44268" y="3749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REGRA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25596" y="2286000"/>
            <a:ext cx="205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Etapa 3"/>
          <p:cNvSpPr/>
          <p:nvPr/>
        </p:nvSpPr>
        <p:spPr>
          <a:xfrm>
            <a:off x="3831336" y="1508760"/>
            <a:ext cx="1481328" cy="2148840"/>
          </a:xfrm>
          <a:prstGeom prst="roundRect">
            <a:avLst>
              <a:gd name="adj" fmla="val 4938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68496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68496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Mapa de NCM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68496" y="2286000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linhas vigentes, condição e exceção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31336" y="3749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REGRA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2286000"/>
            <a:ext cx="205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Etapa 4"/>
          <p:cNvSpPr/>
          <p:nvPr/>
        </p:nvSpPr>
        <p:spPr>
          <a:xfrm>
            <a:off x="5518404" y="1508760"/>
            <a:ext cx="1481328" cy="2148840"/>
          </a:xfrm>
          <a:prstGeom prst="roundRect">
            <a:avLst>
              <a:gd name="adj" fmla="val 4938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55564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55564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Julgamento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55564" y="2286000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NCM genérico ou descrição pobre: CNAE do emitente e revisão humana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18404" y="3749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JULGAMENTO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99732" y="2286000"/>
            <a:ext cx="205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7" name="Etapa 5"/>
          <p:cNvSpPr/>
          <p:nvPr/>
        </p:nvSpPr>
        <p:spPr>
          <a:xfrm>
            <a:off x="7205472" y="1508760"/>
            <a:ext cx="1481328" cy="2148840"/>
          </a:xfrm>
          <a:prstGeom prst="roundRect">
            <a:avLst>
              <a:gd name="adj" fmla="val 4938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42632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42632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Simulação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342632" y="2286000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hoje × 2027 × 2033, por item e por empresa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37490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CÁLCULO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Cada linha carrega sua fonte: linha do mapa, regra de operação, CNAE ou decisão da equipe.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BC7F4B4-0889-45A6-90B8-8E18216A28A5}"/>
              </a:ext>
            </a:extLst>
          </p:cNvPr>
          <p:cNvSpPr/>
          <p:nvPr/>
        </p:nvSpPr>
        <p:spPr>
          <a:xfrm>
            <a:off x="486784" y="1886783"/>
            <a:ext cx="14517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>
                <a:solidFill>
                  <a:schemeClr val="bg1"/>
                </a:solidFill>
              </a:rPr>
              <a:t>Leitura</a:t>
            </a:r>
            <a:r>
              <a:rPr lang="en-US" sz="1400" b="1" dirty="0">
                <a:solidFill>
                  <a:schemeClr val="bg1"/>
                </a:solidFill>
              </a:rPr>
              <a:t> das </a:t>
            </a:r>
            <a:r>
              <a:rPr lang="en-US" sz="1400" b="1" dirty="0" err="1">
                <a:solidFill>
                  <a:schemeClr val="bg1"/>
                </a:solidFill>
              </a:rPr>
              <a:t>notas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15.000 itens classificados em 8 classes, todos com fonte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017443253"/>
              </p:ext>
            </p:extLst>
          </p:nvPr>
        </p:nvGraphicFramePr>
        <p:xfrm>
          <a:off x="457200" y="1325880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dicador 1"/>
          <p:cNvSpPr/>
          <p:nvPr/>
        </p:nvSpPr>
        <p:spPr>
          <a:xfrm>
            <a:off x="5669280" y="1371600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5216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1.387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828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notas: 720 de compra e 667 de venda</a:t>
            </a:r>
            <a:endParaRPr lang="en-US" sz="1100" dirty="0"/>
          </a:p>
        </p:txBody>
      </p:sp>
      <p:sp>
        <p:nvSpPr>
          <p:cNvPr id="7" name="Indicador 2"/>
          <p:cNvSpPr/>
          <p:nvPr/>
        </p:nvSpPr>
        <p:spPr>
          <a:xfrm>
            <a:off x="5669280" y="2395728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521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95 + 2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produtos do cadastro fiscal e 2 regras de operação (447 exportações, 38 bonificações)</a:t>
            </a:r>
            <a:endParaRPr lang="en-US" sz="1100" dirty="0"/>
          </a:p>
        </p:txBody>
      </p:sp>
      <p:sp>
        <p:nvSpPr>
          <p:cNvPr id="10" name="Indicador 3"/>
          <p:cNvSpPr/>
          <p:nvPr/>
        </p:nvSpPr>
        <p:spPr>
          <a:xfrm>
            <a:off x="5669280" y="3419856"/>
            <a:ext cx="3017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52160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497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87705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itens sinalizados com Imposto Seletivo (bebidas açucaradas)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Fonte: base_completa_meridional.csv, recontada. Validador do pacote: formato OK. Sem gabarito, a acurácia não foi medida.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0" y="320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dirty="0"/>
              <a:t>Onde a análise aponta limites, a decisão humana entra em cena</a:t>
            </a:r>
            <a:endParaRPr lang="en-US" sz="2800" dirty="0"/>
          </a:p>
        </p:txBody>
      </p:sp>
      <p:sp>
        <p:nvSpPr>
          <p:cNvPr id="3" name="Card revisão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677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itens (4,5%) entraram como REVISAR, confiança 0,60, e foram decididos manualmente: CLASSIFICADO, confiança 0,75.</a:t>
            </a:r>
            <a:endParaRPr lang="en-US" sz="1400" dirty="0"/>
          </a:p>
        </p:txBody>
      </p:sp>
      <p:sp>
        <p:nvSpPr>
          <p:cNvPr id="6" name="Card produtos"/>
          <p:cNvSpPr/>
          <p:nvPr/>
        </p:nvSpPr>
        <p:spPr>
          <a:xfrm>
            <a:off x="4663440" y="1325880"/>
            <a:ext cx="402336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Quatro produtos revisados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Bisnaguinha: 161 itens, 200003 → 000001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Creme de leite longa vida: 153 itens, confirmado 000001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Curativo hidrocolóide: 176 itens, confirmado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Equipo macrogotas: 187 itens, confirmado</a:t>
            </a:r>
            <a:endParaRPr lang="en-US" sz="1400" dirty="0"/>
          </a:p>
        </p:txBody>
      </p:sp>
      <p:sp>
        <p:nvSpPr>
          <p:cNvPr id="9" name="Card plástico"/>
          <p:cNvSpPr/>
          <p:nvPr/>
        </p:nvSpPr>
        <p:spPr>
          <a:xfrm>
            <a:off x="457200" y="374904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643 itens de plástico genérico: NCM fora do mapa, regime padrão. O CNAE do emitente apoia 480 deles (confiança 0,85).</a:t>
            </a:r>
            <a:endParaRPr lang="en-US" sz="1300" dirty="0"/>
          </a:p>
        </p:txBody>
      </p:sp>
      <p:sp>
        <p:nvSpPr>
          <p:cNvPr id="11" name="Card atenção"/>
          <p:cNvSpPr/>
          <p:nvPr/>
        </p:nvSpPr>
        <p:spPr>
          <a:xfrm>
            <a:off x="4663440" y="374904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Atenção: </a:t>
            </a:r>
            <a:r>
              <a:rPr lang="en-US" sz="1300" dirty="0">
                <a:solidFill>
                  <a:schemeClr val="bg1"/>
                </a:solidFill>
              </a:rPr>
              <a:t>0,75 passa do corte de 0,70 da calibração. Se errar, pesa.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Confiança mede a força da evidência: quanto menos a regra decide, menor a nota</a:t>
            </a:r>
            <a:endParaRPr lang="en-US" sz="2800" dirty="0"/>
          </a:p>
        </p:txBody>
      </p:sp>
      <p:sp>
        <p:nvSpPr>
          <p:cNvPr id="101" name="Linha 0,98"/>
          <p:cNvSpPr/>
          <p:nvPr/>
        </p:nvSpPr>
        <p:spPr>
          <a:xfrm>
            <a:off x="457200" y="1298448"/>
            <a:ext cx="5074920" cy="621792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</p:sp>
      <p:sp>
        <p:nvSpPr>
          <p:cNvPr id="102" name="Nível 0,98"/>
          <p:cNvSpPr/>
          <p:nvPr/>
        </p:nvSpPr>
        <p:spPr>
          <a:xfrm>
            <a:off x="548640" y="1389888"/>
            <a:ext cx="777240" cy="43891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121214"/>
                </a:solidFill>
              </a:rPr>
              <a:t>0,98</a:t>
            </a:r>
          </a:p>
        </p:txBody>
      </p:sp>
      <p:sp>
        <p:nvSpPr>
          <p:cNvPr id="103" name="Texto 0,98"/>
          <p:cNvSpPr txBox="1"/>
          <p:nvPr/>
        </p:nvSpPr>
        <p:spPr>
          <a:xfrm>
            <a:off x="1481328" y="1362456"/>
            <a:ext cx="391363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1200" b="1" dirty="0">
                <a:solidFill>
                  <a:schemeClr val="bg1"/>
                </a:solidFill>
              </a:rPr>
              <a:t>Regra objetiva decide</a:t>
            </a:r>
          </a:p>
          <a:p>
            <a:pPr marL="0" indent="0" algn="l">
              <a:buNone/>
            </a:pPr>
            <a:r>
              <a:rPr lang="pt-BR" sz="1050" dirty="0">
                <a:solidFill>
                  <a:srgbClr val="B8B8BE"/>
                </a:solidFill>
              </a:rPr>
              <a:t>836 itens · CFOP de exportação (447) e bonificação (38); dispositivo médico vendido a órgão público, pelo cadastro (351).</a:t>
            </a:r>
          </a:p>
        </p:txBody>
      </p:sp>
      <p:sp>
        <p:nvSpPr>
          <p:cNvPr id="104" name="Linha 0,90"/>
          <p:cNvSpPr/>
          <p:nvPr/>
        </p:nvSpPr>
        <p:spPr>
          <a:xfrm>
            <a:off x="457200" y="2029968"/>
            <a:ext cx="5074920" cy="621792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</p:sp>
      <p:sp>
        <p:nvSpPr>
          <p:cNvPr id="105" name="Nível 0,90"/>
          <p:cNvSpPr/>
          <p:nvPr/>
        </p:nvSpPr>
        <p:spPr>
          <a:xfrm>
            <a:off x="548640" y="2121408"/>
            <a:ext cx="777240" cy="438912"/>
          </a:xfrm>
          <a:prstGeom prst="roundRect">
            <a:avLst>
              <a:gd name="adj" fmla="val 12000"/>
            </a:avLst>
          </a:prstGeom>
          <a:solidFill>
            <a:srgbClr val="8A8A9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</a:rPr>
              <a:t>0,90</a:t>
            </a:r>
          </a:p>
        </p:txBody>
      </p:sp>
      <p:sp>
        <p:nvSpPr>
          <p:cNvPr id="106" name="Texto 0,90"/>
          <p:cNvSpPr txBox="1"/>
          <p:nvPr/>
        </p:nvSpPr>
        <p:spPr>
          <a:xfrm>
            <a:off x="1481328" y="2093976"/>
            <a:ext cx="391363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1200" b="1" dirty="0">
                <a:solidFill>
                  <a:schemeClr val="bg1"/>
                </a:solidFill>
              </a:rPr>
              <a:t>Linha do mapa ou regra padrão</a:t>
            </a:r>
          </a:p>
          <a:p>
            <a:pPr marL="0" indent="0" algn="l">
              <a:buNone/>
            </a:pPr>
            <a:r>
              <a:rPr lang="pt-BR" sz="1050" dirty="0">
                <a:solidFill>
                  <a:srgbClr val="B8B8BE"/>
                </a:solidFill>
              </a:rPr>
              <a:t>12.899 itens · descrição bate com a linha do mapa de NCM, ou NCM fora do mapa vai ao regime padrão (regra 3).</a:t>
            </a:r>
          </a:p>
        </p:txBody>
      </p:sp>
      <p:sp>
        <p:nvSpPr>
          <p:cNvPr id="107" name="Linha 0,85"/>
          <p:cNvSpPr/>
          <p:nvPr/>
        </p:nvSpPr>
        <p:spPr>
          <a:xfrm>
            <a:off x="457200" y="2761488"/>
            <a:ext cx="5074920" cy="621792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</p:sp>
      <p:sp>
        <p:nvSpPr>
          <p:cNvPr id="108" name="Nível 0,85"/>
          <p:cNvSpPr/>
          <p:nvPr/>
        </p:nvSpPr>
        <p:spPr>
          <a:xfrm>
            <a:off x="548640" y="2852928"/>
            <a:ext cx="777240" cy="438912"/>
          </a:xfrm>
          <a:prstGeom prst="roundRect">
            <a:avLst>
              <a:gd name="adj" fmla="val 12000"/>
            </a:avLst>
          </a:prstGeom>
          <a:solidFill>
            <a:srgbClr val="FFC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121214"/>
                </a:solidFill>
              </a:rPr>
              <a:t>0,85</a:t>
            </a:r>
          </a:p>
        </p:txBody>
      </p:sp>
      <p:sp>
        <p:nvSpPr>
          <p:cNvPr id="109" name="Texto 0,85"/>
          <p:cNvSpPr txBox="1"/>
          <p:nvPr/>
        </p:nvSpPr>
        <p:spPr>
          <a:xfrm>
            <a:off x="1481328" y="2825496"/>
            <a:ext cx="391363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1200" b="1" dirty="0">
                <a:solidFill>
                  <a:schemeClr val="accent1"/>
                </a:solidFill>
              </a:rPr>
              <a:t>Evidência indireta</a:t>
            </a:r>
          </a:p>
          <a:p>
            <a:pPr marL="0" indent="0" algn="l">
              <a:buNone/>
            </a:pPr>
            <a:r>
              <a:rPr lang="pt-BR" sz="1050" dirty="0">
                <a:solidFill>
                  <a:srgbClr val="B8B8BE"/>
                </a:solidFill>
              </a:rPr>
              <a:t>588 itens · plástico genérico apoiado só no CNAE do emitente (480); desinfetante sem prova de uso agropecuário (108).</a:t>
            </a:r>
          </a:p>
        </p:txBody>
      </p:sp>
      <p:sp>
        <p:nvSpPr>
          <p:cNvPr id="110" name="Linha 0,75"/>
          <p:cNvSpPr/>
          <p:nvPr/>
        </p:nvSpPr>
        <p:spPr>
          <a:xfrm>
            <a:off x="457200" y="3493008"/>
            <a:ext cx="5074920" cy="621792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</p:sp>
      <p:sp>
        <p:nvSpPr>
          <p:cNvPr id="111" name="Nível 0,75"/>
          <p:cNvSpPr/>
          <p:nvPr/>
        </p:nvSpPr>
        <p:spPr>
          <a:xfrm>
            <a:off x="548640" y="3584448"/>
            <a:ext cx="777240" cy="438912"/>
          </a:xfrm>
          <a:prstGeom prst="roundRect">
            <a:avLst>
              <a:gd name="adj" fmla="val 12000"/>
            </a:avLst>
          </a:prstGeom>
          <a:solidFill>
            <a:srgbClr val="4A4A5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</a:rPr>
              <a:t>0,75</a:t>
            </a:r>
          </a:p>
        </p:txBody>
      </p:sp>
      <p:sp>
        <p:nvSpPr>
          <p:cNvPr id="112" name="Texto 0,75"/>
          <p:cNvSpPr txBox="1"/>
          <p:nvPr/>
        </p:nvSpPr>
        <p:spPr>
          <a:xfrm>
            <a:off x="1481328" y="3557016"/>
            <a:ext cx="391363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1200" b="1" dirty="0">
                <a:solidFill>
                  <a:schemeClr val="bg1"/>
                </a:solidFill>
              </a:rPr>
              <a:t>Decisão humana registrada</a:t>
            </a:r>
          </a:p>
          <a:p>
            <a:pPr marL="0" indent="0" algn="l">
              <a:buNone/>
            </a:pPr>
            <a:r>
              <a:rPr lang="pt-BR" sz="1050" dirty="0">
                <a:solidFill>
                  <a:srgbClr val="B8B8BE"/>
                </a:solidFill>
              </a:rPr>
              <a:t>677 itens · entraram como REVISAR (0,60) e foram decididos pela equipe, com a justificativa na fonte.</a:t>
            </a:r>
          </a:p>
        </p:txBody>
      </p:sp>
      <p:sp>
        <p:nvSpPr>
          <p:cNvPr id="113" name="Card crédito"/>
          <p:cNvSpPr/>
          <p:nvPr/>
        </p:nvSpPr>
        <p:spPr>
          <a:xfrm>
            <a:off x="5715000" y="1298448"/>
            <a:ext cx="2971800" cy="2816352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>
            <a:noFill/>
          </a:ln>
        </p:spPr>
      </p:sp>
      <p:sp>
        <p:nvSpPr>
          <p:cNvPr id="114" name="Título card"/>
          <p:cNvSpPr txBox="1"/>
          <p:nvPr/>
        </p:nvSpPr>
        <p:spPr>
          <a:xfrm>
            <a:off x="5897880" y="142646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pt-BR" sz="1200" b="1" dirty="0">
                <a:solidFill>
                  <a:schemeClr val="accent1"/>
                </a:solidFill>
              </a:rPr>
              <a:t>Onde está o crédito de 2033</a:t>
            </a:r>
          </a:p>
        </p:txBody>
      </p:sp>
      <p:sp>
        <p:nvSpPr>
          <p:cNvPr id="115" name="Stat 78"/>
          <p:cNvSpPr txBox="1"/>
          <p:nvPr/>
        </p:nvSpPr>
        <p:spPr>
          <a:xfrm>
            <a:off x="5897880" y="1682496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pt-BR" sz="4000" b="1" dirty="0">
                <a:solidFill>
                  <a:schemeClr val="accent1"/>
                </a:solidFill>
              </a:rPr>
              <a:t>78%</a:t>
            </a:r>
          </a:p>
        </p:txBody>
      </p:sp>
      <p:sp>
        <p:nvSpPr>
          <p:cNvPr id="116" name="Stat texto"/>
          <p:cNvSpPr txBox="1"/>
          <p:nvPr/>
        </p:nvSpPr>
        <p:spPr>
          <a:xfrm>
            <a:off x="5897880" y="2267712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pt-BR" sz="1100" dirty="0">
                <a:solidFill>
                  <a:schemeClr val="bg1"/>
                </a:solidFill>
              </a:rPr>
              <a:t>do crédito (R$ 53,0 mi de R$ 68,0 mi) está nos itens 0,85, que são só 3,9% da base.</a:t>
            </a:r>
          </a:p>
        </p:txBody>
      </p:sp>
      <p:sp>
        <p:nvSpPr>
          <p:cNvPr id="117" name="Rótulo Itens (15.000)"/>
          <p:cNvSpPr txBox="1"/>
          <p:nvPr/>
        </p:nvSpPr>
        <p:spPr>
          <a:xfrm>
            <a:off x="5897880" y="2926080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pt-BR" sz="950" dirty="0">
                <a:solidFill>
                  <a:srgbClr val="B8B8BE"/>
                </a:solidFill>
              </a:rPr>
              <a:t>Itens (15.000)</a:t>
            </a:r>
          </a:p>
        </p:txBody>
      </p:sp>
      <p:sp>
        <p:nvSpPr>
          <p:cNvPr id="118" name="Itens (15.000) 0,98"/>
          <p:cNvSpPr/>
          <p:nvPr/>
        </p:nvSpPr>
        <p:spPr>
          <a:xfrm>
            <a:off x="5897880" y="3127248"/>
            <a:ext cx="145938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9" name="Itens (15.000) 0,90"/>
          <p:cNvSpPr/>
          <p:nvPr/>
        </p:nvSpPr>
        <p:spPr>
          <a:xfrm>
            <a:off x="6043818" y="3127248"/>
            <a:ext cx="2241194" cy="274320"/>
          </a:xfrm>
          <a:prstGeom prst="rect">
            <a:avLst/>
          </a:prstGeom>
          <a:solidFill>
            <a:srgbClr val="8A8A9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FFFFFF"/>
                </a:solidFill>
              </a:rPr>
              <a:t>86%</a:t>
            </a:r>
          </a:p>
        </p:txBody>
      </p:sp>
      <p:sp>
        <p:nvSpPr>
          <p:cNvPr id="120" name="Itens (15.000) 0,85"/>
          <p:cNvSpPr/>
          <p:nvPr/>
        </p:nvSpPr>
        <p:spPr>
          <a:xfrm>
            <a:off x="8285013" y="3127248"/>
            <a:ext cx="101636" cy="274320"/>
          </a:xfrm>
          <a:prstGeom prst="rect">
            <a:avLst/>
          </a:prstGeom>
          <a:solidFill>
            <a:srgbClr val="FFC400"/>
          </a:solidFill>
          <a:ln>
            <a:noFill/>
          </a:ln>
        </p:spPr>
      </p:sp>
      <p:sp>
        <p:nvSpPr>
          <p:cNvPr id="121" name="Itens (15.000) 0,75"/>
          <p:cNvSpPr/>
          <p:nvPr/>
        </p:nvSpPr>
        <p:spPr>
          <a:xfrm>
            <a:off x="8386648" y="3127248"/>
            <a:ext cx="117272" cy="274320"/>
          </a:xfrm>
          <a:prstGeom prst="rect">
            <a:avLst/>
          </a:prstGeom>
          <a:solidFill>
            <a:srgbClr val="4A4A52"/>
          </a:solidFill>
          <a:ln>
            <a:noFill/>
          </a:ln>
        </p:spPr>
      </p:sp>
      <p:sp>
        <p:nvSpPr>
          <p:cNvPr id="122" name="Rótulo Crédito de 2033 (R$ 68,0 mi)"/>
          <p:cNvSpPr txBox="1"/>
          <p:nvPr/>
        </p:nvSpPr>
        <p:spPr>
          <a:xfrm>
            <a:off x="5897880" y="3493008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pt-BR" sz="950" dirty="0">
                <a:solidFill>
                  <a:srgbClr val="B8B8BE"/>
                </a:solidFill>
              </a:rPr>
              <a:t>Crédito de 2033 (R$ 68,0 mi)</a:t>
            </a:r>
          </a:p>
        </p:txBody>
      </p:sp>
      <p:sp>
        <p:nvSpPr>
          <p:cNvPr id="123" name="Crédito de 2033 (R$ 68,0 mi) 0,90"/>
          <p:cNvSpPr/>
          <p:nvPr/>
        </p:nvSpPr>
        <p:spPr>
          <a:xfrm>
            <a:off x="5897880" y="3694176"/>
            <a:ext cx="565511" cy="274320"/>
          </a:xfrm>
          <a:prstGeom prst="rect">
            <a:avLst/>
          </a:prstGeom>
          <a:solidFill>
            <a:srgbClr val="8A8A9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124" name="Crédito de 2033 (R$ 68,0 mi) 0,85"/>
          <p:cNvSpPr/>
          <p:nvPr/>
        </p:nvSpPr>
        <p:spPr>
          <a:xfrm>
            <a:off x="6463391" y="3694176"/>
            <a:ext cx="2032711" cy="2743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121214"/>
                </a:solidFill>
              </a:rPr>
              <a:t>78%</a:t>
            </a:r>
          </a:p>
        </p:txBody>
      </p:sp>
      <p:sp>
        <p:nvSpPr>
          <p:cNvPr id="125" name="Crédito de 2033 (R$ 68,0 mi) 0,75"/>
          <p:cNvSpPr/>
          <p:nvPr/>
        </p:nvSpPr>
        <p:spPr>
          <a:xfrm>
            <a:off x="8496102" y="3694176"/>
            <a:ext cx="10973" cy="274320"/>
          </a:xfrm>
          <a:prstGeom prst="rect">
            <a:avLst/>
          </a:prstGeom>
          <a:solidFill>
            <a:srgbClr val="4A4A52"/>
          </a:solidFill>
          <a:ln>
            <a:noFill/>
          </a:ln>
        </p:spPr>
      </p:sp>
      <p:sp>
        <p:nvSpPr>
          <p:cNvPr id="126" name="Fonte"/>
          <p:cNvSpPr txBox="1"/>
          <p:nvPr/>
        </p:nvSpPr>
        <p:spPr>
          <a:xfrm>
            <a:off x="457200" y="422452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pt-BR" sz="950" dirty="0">
                <a:solidFill>
                  <a:srgbClr val="8A8A92"/>
                </a:solidFill>
              </a:rPr>
              <a:t>Nenhum item chega a 1,00: a nota vem do PDF e não há gabarito. Fonte: base_completa_meridional.csv (confianca, fonte, 2033_credito).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Caso real: bisnaguinha e pão francês têm o mesmo NCM, mas não a mesma classe</a:t>
            </a:r>
            <a:endParaRPr lang="en-US" sz="2800" dirty="0"/>
          </a:p>
        </p:txBody>
      </p:sp>
      <p:sp>
        <p:nvSpPr>
          <p:cNvPr id="3" name="Caso ENTRADA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ENTRADA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Venda de PAO FRANCES BISNAGUINHA KG, NCM 1905.90.90. Nota …2762570, item 3, vProd R$ 4.534,18.</a:t>
            </a:r>
            <a:endParaRPr lang="en-US" sz="1400" dirty="0"/>
          </a:p>
        </p:txBody>
      </p:sp>
      <p:sp>
        <p:nvSpPr>
          <p:cNvPr id="6" name="Caso REGRA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REGRA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Mapa de NCM, linha 1913: o anexo cobre só o pão francês neste NCM (enunciado, seção 4, regra 2).</a:t>
            </a:r>
            <a:endParaRPr lang="en-US" sz="1400" dirty="0"/>
          </a:p>
        </p:txBody>
      </p:sp>
      <p:sp>
        <p:nvSpPr>
          <p:cNvPr id="9" name="Caso CLASSIFICAÇÃO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CLASSIFICAÇÃO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000001, regime padrão. CLASSIFICADO, confiança 0,75. Começou em 200003 como REVISAR (0,60).</a:t>
            </a:r>
            <a:endParaRPr lang="en-US" sz="1400" dirty="0"/>
          </a:p>
        </p:txBody>
      </p:sp>
      <p:sp>
        <p:nvSpPr>
          <p:cNvPr id="12" name="Caso IMPACTO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IMPACTO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Imposto do item: R$ 317,40 hoje, R$ 716,40 em 2027, R$ 1.201,56 em 2033. Em 200003, 2033 seria R$ 0,00.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Fonte: base_completa_meridional.csv (chave 3526055123…2762570, item 3) e mapa_ncm_cclasstrib.xlsx, linha 1913.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</a:rPr>
              <a:t>A Meridional ganha: paga 32% menos nas vendas e passa a sobrar crédito em 2033</a:t>
            </a:r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25880"/>
          <a:ext cx="4572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Onde"/>
          <p:cNvSpPr txBox="1"/>
          <p:nvPr/>
        </p:nvSpPr>
        <p:spPr>
          <a:xfrm>
            <a:off x="457200" y="3886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 b="1" dirty="0">
                <a:solidFill>
                  <a:schemeClr val="accent4"/>
                </a:solidFill>
              </a:rPr>
              <a:t>Onde perde: </a:t>
            </a:r>
            <a:r>
              <a:rPr lang="pt-BR" sz="1400" dirty="0">
                <a:solidFill>
                  <a:schemeClr val="bg1"/>
                </a:solidFill>
              </a:rPr>
              <a:t>regime padrão, +21% nas vendas.</a:t>
            </a:r>
          </a:p>
          <a:p>
            <a:pPr marL="0" indent="0">
              <a:buNone/>
            </a:pPr>
            <a:r>
              <a:rPr lang="pt-BR" sz="1400" b="1" dirty="0">
                <a:solidFill>
                  <a:schemeClr val="accent3"/>
                </a:solidFill>
              </a:rPr>
              <a:t>Onde ganha: </a:t>
            </a:r>
            <a:r>
              <a:rPr lang="pt-BR" sz="1400" dirty="0">
                <a:solidFill>
                  <a:schemeClr val="bg1"/>
                </a:solidFill>
              </a:rPr>
              <a:t>cesta básica (−100%), Anexo VII (−40%) e o crédito amplo das compras.</a:t>
            </a:r>
          </a:p>
        </p:txBody>
      </p:sp>
      <p:sp>
        <p:nvSpPr>
          <p:cNvPr id="5" name="Card empresa"/>
          <p:cNvSpPr/>
          <p:nvPr/>
        </p:nvSpPr>
        <p:spPr>
          <a:xfrm>
            <a:off x="5303520" y="1325880"/>
            <a:ext cx="3383280" cy="260604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6" name="Card titulo"/>
          <p:cNvSpPr txBox="1"/>
          <p:nvPr/>
        </p:nvSpPr>
        <p:spPr>
          <a:xfrm>
            <a:off x="5440680" y="1426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00" b="1" dirty="0">
                <a:solidFill>
                  <a:schemeClr val="accent1"/>
                </a:solidFill>
              </a:rPr>
              <a:t>Imposto da empresa, nível 2 (R$)</a:t>
            </a:r>
          </a:p>
        </p:txBody>
      </p:sp>
      <p:graphicFrame>
        <p:nvGraphicFramePr>
          <p:cNvPr id="7" name="Tabela cenarios"/>
          <p:cNvGraphicFramePr>
            <a:graphicFrameLocks noGrp="1"/>
          </p:cNvGraphicFramePr>
          <p:nvPr/>
        </p:nvGraphicFramePr>
        <p:xfrm>
          <a:off x="5440680" y="1737360"/>
          <a:ext cx="3108960" cy="1371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accent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bg2"/>
                          </a:solidFill>
                        </a:rPr>
                        <a:t>Hoje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accent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bg2"/>
                          </a:solidFill>
                        </a:rPr>
                        <a:t>2027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accent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accent1"/>
                          </a:solidFill>
                        </a:rPr>
                        <a:t>2033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accent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chemeClr val="bg2"/>
                          </a:solidFill>
                        </a:rPr>
                        <a:t>Vendas (débito)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dirty="0">
                          <a:solidFill>
                            <a:schemeClr val="bg1"/>
                          </a:solidFill>
                        </a:rPr>
                        <a:t>524,2 mil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accent4"/>
                          </a:solidFill>
                        </a:rPr>
                        <a:t>?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dirty="0">
                          <a:solidFill>
                            <a:schemeClr val="bg1"/>
                          </a:solidFill>
                        </a:rPr>
                        <a:t>354,2 mil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chemeClr val="bg2"/>
                          </a:solidFill>
                        </a:rPr>
                        <a:t>Compras (crédito)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dirty="0">
                          <a:solidFill>
                            <a:schemeClr val="bg1"/>
                          </a:solidFill>
                        </a:rPr>
                        <a:t>2,1 mi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accent4"/>
                          </a:solidFill>
                        </a:rPr>
                        <a:t>?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dirty="0">
                          <a:solidFill>
                            <a:schemeClr val="bg1"/>
                          </a:solidFill>
                        </a:rPr>
                        <a:t>68,0 mi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solidFill>
                            <a:schemeClr val="bg1"/>
                          </a:solidFill>
                        </a:rPr>
                        <a:t>Líquido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bg1"/>
                          </a:solidFill>
                        </a:rPr>
                        <a:t>≈ −1,6 mi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accent4"/>
                          </a:solidFill>
                        </a:rPr>
                        <a:t>?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chemeClr val="accent1"/>
                          </a:solidFill>
                        </a:rPr>
                        <a:t>−67,6 mi</a:t>
                      </a:r>
                    </a:p>
                  </a:txBody>
                  <a:tcPr marL="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Card nota"/>
          <p:cNvSpPr txBox="1"/>
          <p:nvPr/>
        </p:nvSpPr>
        <p:spPr>
          <a:xfrm>
            <a:off x="54406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chemeClr val="bg2"/>
                </a:solidFill>
              </a:rPr>
              <a:t>Líquido negativo = crédito maior que o imposto devido. Em 2033 o saldo vira caixa se for compensado ou ressarcido; 96% vem de 960 itens de uso e consumo.</a:t>
            </a:r>
          </a:p>
        </p:txBody>
      </p:sp>
      <p:sp>
        <p:nvSpPr>
          <p:cNvPr id="9" name="Fonte"/>
          <p:cNvSpPr txBox="1"/>
          <p:nvPr/>
        </p:nvSpPr>
        <p:spPr>
          <a:xfrm>
            <a:off x="530352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00" dirty="0">
                <a:solidFill>
                  <a:schemeClr val="accent5"/>
                </a:solidFill>
              </a:rPr>
              <a:t>Fonte: simulacao.json (nível 2); premissas de parametros.json.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Riscos e limites: o resultado depende de 960 itens, e a acurácia ainda não foi medida</a:t>
            </a:r>
            <a:endParaRPr lang="en-US" sz="2800" dirty="0"/>
          </a:p>
        </p:txBody>
      </p:sp>
      <p:sp>
        <p:nvSpPr>
          <p:cNvPr id="3" name="Risco 1"/>
          <p:cNvSpPr/>
          <p:nvPr/>
        </p:nvSpPr>
        <p:spPr>
          <a:xfrm>
            <a:off x="457200" y="132588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Concentração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96% do crédito de 2033 vem de 960 itens de dois fornecedores de plástico (uso e consumo).</a:t>
            </a:r>
            <a:endParaRPr lang="en-US" sz="1400" dirty="0"/>
          </a:p>
        </p:txBody>
      </p:sp>
      <p:sp>
        <p:nvSpPr>
          <p:cNvPr id="6" name="Risco 2"/>
          <p:cNvSpPr/>
          <p:nvPr/>
        </p:nvSpPr>
        <p:spPr>
          <a:xfrm>
            <a:off x="3291840" y="132588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Leituras e premissas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ICMS de 256 notas de exportação (R$ 43,8 mil) foi zerado, como o enunciado aceita. Alíquotas são premissas.</a:t>
            </a:r>
            <a:endParaRPr lang="en-US" sz="1400" dirty="0"/>
          </a:p>
        </p:txBody>
      </p:sp>
      <p:sp>
        <p:nvSpPr>
          <p:cNvPr id="9" name="Risco 3"/>
          <p:cNvSpPr/>
          <p:nvPr/>
        </p:nvSpPr>
        <p:spPr>
          <a:xfrm>
            <a:off x="6126480" y="132588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Validação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74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Sem gabarito, acurácia e calibração não foram medidas. Os 677 itens revisados têm confiança 0,75.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Próximos passos (propostos)</a:t>
            </a:r>
            <a:endParaRPr lang="en-US" sz="1400" dirty="0"/>
          </a:p>
        </p:txBody>
      </p:sp>
      <p:sp>
        <p:nvSpPr>
          <p:cNvPr id="13" name="Passo 1"/>
          <p:cNvSpPr/>
          <p:nvPr/>
        </p:nvSpPr>
        <p:spPr>
          <a:xfrm>
            <a:off x="457200" y="416052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Revisar os itens de maior valor</a:t>
            </a:r>
            <a:endParaRPr lang="en-US" sz="1200" dirty="0"/>
          </a:p>
        </p:txBody>
      </p:sp>
      <p:sp>
        <p:nvSpPr>
          <p:cNvPr id="15" name="Passo 2"/>
          <p:cNvSpPr/>
          <p:nvPr/>
        </p:nvSpPr>
        <p:spPr>
          <a:xfrm>
            <a:off x="3291840" y="416052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290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Medir a acurácia contra o gabarito</a:t>
            </a:r>
            <a:endParaRPr lang="en-US" sz="1200" dirty="0"/>
          </a:p>
        </p:txBody>
      </p:sp>
      <p:sp>
        <p:nvSpPr>
          <p:cNvPr id="17" name="Passo 3"/>
          <p:cNvSpPr/>
          <p:nvPr/>
        </p:nvSpPr>
        <p:spPr>
          <a:xfrm>
            <a:off x="6126480" y="416052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Ler o XML da NF-e e testar alíquotas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Cada item de nota fiscal, com um código, uma fonte e uma explicação.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15.000 itens classificados e simulados, rastreáveis até a nota, a regra e o cenário.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Obrigado!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Coffeelanders · Ana Luiza Proença · Gustavo Gomes · Julia Egute · Pedro Perroni · Ricardo Matteo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ffeelanders">
  <a:themeElements>
    <a:clrScheme name="Coffeelanders">
      <a:dk1>
        <a:srgbClr val="121214"/>
      </a:dk1>
      <a:lt1>
        <a:srgbClr val="FFFFFF"/>
      </a:lt1>
      <a:dk2>
        <a:srgbClr val="1E1E21"/>
      </a:dk2>
      <a:lt2>
        <a:srgbClr val="B8B8BE"/>
      </a:lt2>
      <a:accent1>
        <a:srgbClr val="FFC400"/>
      </a:accent1>
      <a:accent2>
        <a:srgbClr val="2A2A2E"/>
      </a:accent2>
      <a:accent3>
        <a:srgbClr val="4ADE80"/>
      </a:accent3>
      <a:accent4>
        <a:srgbClr val="FF6B6B"/>
      </a:accent4>
      <a:accent5>
        <a:srgbClr val="8A8A92"/>
      </a:accent5>
      <a:accent6>
        <a:srgbClr val="FFE066"/>
      </a:accent6>
      <a:hlink>
        <a:srgbClr val="FFC400"/>
      </a:hlink>
      <a:folHlink>
        <a:srgbClr val="B8B8BE"/>
      </a:folHlink>
    </a:clrScheme>
    <a:fontScheme name="Coffeelander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2157</Words>
  <Application>Microsoft Office PowerPoint</Application>
  <PresentationFormat>Apresentação na tela (16:9)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Coffeelanders</vt:lpstr>
      <vt:lpstr>Apresentação do PowerPoint</vt:lpstr>
      <vt:lpstr>Um atacadista de alimentos diante da reforma: vai pagar mais ou menos imposto?</vt:lpstr>
      <vt:lpstr>Cada item de nota fiscal precisa de um código novo, e o produto não basta</vt:lpstr>
      <vt:lpstr>Do item da nota ao imposto: regras primeiro, julgamento onde a regra não alcança</vt:lpstr>
      <vt:lpstr>15.000 itens classificados em 8 classes, todos com fonte</vt:lpstr>
      <vt:lpstr>Onde a análise aponta limites, a decisão humana entra em cena</vt:lpstr>
      <vt:lpstr>Confiança mede a força da evidência: quanto menos a regra decide, menor a nota</vt:lpstr>
      <vt:lpstr>Caso real: bisnaguinha e pão francês têm o mesmo NCM, mas não a mesma classe</vt:lpstr>
      <vt:lpstr>A Meridional ganha: paga 32% menos nas vendas e passa a sobrar crédito em 2033</vt:lpstr>
      <vt:lpstr>Riscos e limites: o resultado depende de 960 itens, e a acurácia ainda não foi medida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Coffeelanders: classificação fiscal automatizada</dc:title>
  <dc:subject>PptxGenJS Presentation</dc:subject>
  <dc:creator>Coffeelanders</dc:creator>
  <cp:lastModifiedBy>ANA LUIZA PROENCA GALVAO</cp:lastModifiedBy>
  <cp:revision>5</cp:revision>
  <dcterms:created xsi:type="dcterms:W3CDTF">2026-10-17T18:13:09Z</dcterms:created>
  <dcterms:modified xsi:type="dcterms:W3CDTF">2026-10-17T19:06:58Z</dcterms:modified>
</cp:coreProperties>
</file>